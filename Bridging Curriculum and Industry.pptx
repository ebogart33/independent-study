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1" r:id="rId13"/>
    <p:sldId id="266" r:id="rId14"/>
    <p:sldId id="270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>
      <p:cViewPr>
        <p:scale>
          <a:sx n="125" d="100"/>
          <a:sy n="125" d="100"/>
        </p:scale>
        <p:origin x="-30" y="-9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68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6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17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8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5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8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3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9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41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9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305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89" r:id="rId7"/>
    <p:sldLayoutId id="2147483688" r:id="rId8"/>
    <p:sldLayoutId id="2147483687" r:id="rId9"/>
    <p:sldLayoutId id="2147483686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C16514-7665-F342-CEED-99BD403927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7736" b="6015"/>
          <a:stretch>
            <a:fillRect/>
          </a:stretch>
        </p:blipFill>
        <p:spPr>
          <a:xfrm>
            <a:off x="21203" y="0"/>
            <a:ext cx="12191998" cy="685784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9" cy="2696866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Bridging Curriculum and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402572" cy="1287887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</a:rPr>
              <a:t>Identifying Applied Computer Science Concepts in a Software Internship and Designing a Containerization, Kubernetes, and Scalability Laboratory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Motivation &amp;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t>Which Texas State CS concepts are actually used on the job?</a:t>
            </a:r>
            <a:endParaRPr lang="en-US"/>
          </a:p>
          <a:p>
            <a:r>
              <a:t>Which important industry skills were missing from my coursework?</a:t>
            </a:r>
          </a:p>
          <a:p>
            <a:r>
              <a:t>Goal: compare the curriculum to real internship work</a:t>
            </a:r>
          </a:p>
          <a:p>
            <a:r>
              <a:t>Show where classroom learning has direct value — and where gaps exist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067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Approach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t>Independent online research</a:t>
            </a:r>
            <a:endParaRPr lang="en-US"/>
          </a:p>
          <a:p>
            <a:r>
              <a:t>Mentorship from my internship's cloud architect</a:t>
            </a:r>
          </a:p>
          <a:p>
            <a:r>
              <a:t>Mapped internship tasks to specific course concepts</a:t>
            </a:r>
          </a:p>
          <a:p>
            <a:r>
              <a:t>Milestones:</a:t>
            </a:r>
          </a:p>
          <a:p>
            <a:pPr lvl="1"/>
            <a:r>
              <a:t>Define scope → document internship work</a:t>
            </a:r>
          </a:p>
          <a:p>
            <a:pPr lvl="1"/>
            <a:r>
              <a:t>Identify concepts used → identify gaps</a:t>
            </a:r>
          </a:p>
          <a:p>
            <a:pPr lvl="1"/>
            <a:r>
              <a:t>Design an assignment for the biggest gap → report &amp; present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Curriculum Concepts I Used at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t>Git — branching, pull requests, code review</a:t>
            </a:r>
            <a:endParaRPr lang="en-US"/>
          </a:p>
          <a:p>
            <a:r>
              <a:t>Agile &amp; Jira — sprints, stand-ups, issue tracking</a:t>
            </a:r>
          </a:p>
          <a:p>
            <a:r>
              <a:t>Object-Oriented Programming — maintainable code structure</a:t>
            </a:r>
          </a:p>
          <a:p>
            <a:r>
              <a:t>APIs &amp; web services — building and consuming REST endpoints</a:t>
            </a:r>
          </a:p>
          <a:p>
            <a:r>
              <a:t>Programming &amp; data structures — application logic and data handling</a:t>
            </a:r>
          </a:p>
          <a:p>
            <a:r>
              <a:t>Software engineering — design, testing, documentation, collaboration</a:t>
            </a:r>
          </a:p>
          <a:p>
            <a:r>
              <a:t>The fundamentals transferred directly and made me productive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The Gap — What Wasn't Taught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t>Docker &amp; containerization</a:t>
            </a:r>
            <a:endParaRPr lang="en-US"/>
          </a:p>
          <a:p>
            <a:r>
              <a:t>Multi-container composition with Docker Compose</a:t>
            </a:r>
          </a:p>
          <a:p>
            <a:r>
              <a:t>Persistent state &amp; data volumes</a:t>
            </a:r>
          </a:p>
          <a:p>
            <a:r>
              <a:t>Horizontal scalability</a:t>
            </a:r>
          </a:p>
          <a:p>
            <a:r>
              <a:t>Container orchestration with Kubernetes</a:t>
            </a:r>
          </a:p>
          <a:p>
            <a:r>
              <a:t>Cloud deployment (Azure AKS + Container Registry)</a:t>
            </a:r>
          </a:p>
          <a:p>
            <a:r>
              <a:t>Automatic scaling (HPA + KEDA)</a:t>
            </a:r>
          </a:p>
          <a:p>
            <a:r>
              <a:t>Central to modern industry — but absent from my coursework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From Analysis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t>Naming the gap isn't enough — the real value is closing it</a:t>
            </a:r>
            <a:endParaRPr lang="en-US"/>
          </a:p>
          <a:p>
            <a:r>
              <a:t>The study pivoted from cataloging missing topics to building a solution</a:t>
            </a:r>
          </a:p>
          <a:p>
            <a:r>
              <a:t>A concrete, teachable assignment a professor can assign</a:t>
            </a:r>
          </a:p>
          <a:p>
            <a:r>
              <a:t>Goal: give students hands-on containerization &amp; Kubernetes before the workplace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The Deliverable — A Three-Phase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dirty="0"/>
              <a:t>Phase 1: Docker fundamentals</a:t>
            </a:r>
            <a:endParaRPr lang="en-US" dirty="0"/>
          </a:p>
          <a:p>
            <a:r>
              <a:rPr dirty="0"/>
              <a:t>Phase 2: Multi-container app (API + worker + MongoDB)</a:t>
            </a:r>
          </a:p>
          <a:p>
            <a:r>
              <a:rPr dirty="0"/>
              <a:t>Phase 3: Kubernetes on Azure with automatic scaling</a:t>
            </a:r>
          </a:p>
          <a:p>
            <a:r>
              <a:rPr dirty="0"/>
              <a:t>Complete line-by-line documentation and reproducible step-by-step guides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dirty="0"/>
              <a:t>Phase 1 — Docker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lang="en-US" dirty="0"/>
              <a:t>Gives a background for containers &amp; containerization.</a:t>
            </a:r>
          </a:p>
          <a:p>
            <a:r>
              <a:rPr dirty="0"/>
              <a:t>Build and run a container from a </a:t>
            </a:r>
            <a:r>
              <a:rPr dirty="0" err="1"/>
              <a:t>Dockerfile</a:t>
            </a:r>
            <a:endParaRPr lang="en-US" dirty="0"/>
          </a:p>
          <a:p>
            <a:r>
              <a:rPr lang="en-US" dirty="0"/>
              <a:t>Pull a public image(MongoDB) and run the container.</a:t>
            </a:r>
          </a:p>
          <a:p>
            <a:r>
              <a:rPr dirty="0"/>
              <a:t>Learn images, layers, ports, and the container lifecycle</a:t>
            </a:r>
            <a:endParaRPr lang="en-US" dirty="0"/>
          </a:p>
          <a:p>
            <a:r>
              <a:rPr lang="en-US" dirty="0"/>
              <a:t>Create a basic composition</a:t>
            </a:r>
            <a:endParaRPr dirty="0"/>
          </a:p>
          <a:p>
            <a:r>
              <a:rPr dirty="0"/>
              <a:t>Establishes the foundation for everything that follows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Phase 2 — Multi-Container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dirty="0"/>
              <a:t>Express web API + background worker + MongoDB database</a:t>
            </a:r>
            <a:endParaRPr lang="en-US" dirty="0"/>
          </a:p>
          <a:p>
            <a:r>
              <a:rPr dirty="0"/>
              <a:t>Docker Compose: shared network, environment variables, persistent volume</a:t>
            </a:r>
          </a:p>
          <a:p>
            <a:r>
              <a:rPr dirty="0"/>
              <a:t>Producer/consumer flow:</a:t>
            </a:r>
          </a:p>
          <a:p>
            <a:pPr lvl="1"/>
            <a:r>
              <a:rPr dirty="0"/>
              <a:t>API accepts a prompt and queues a job</a:t>
            </a:r>
          </a:p>
          <a:p>
            <a:pPr lvl="1"/>
            <a:r>
              <a:rPr dirty="0"/>
              <a:t>Worker processes the job and writes the result back</a:t>
            </a:r>
          </a:p>
          <a:p>
            <a:r>
              <a:rPr dirty="0"/>
              <a:t>Demonstrates real service-to-service communication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Phase 3 — Kubernetes &amp; Scalability on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dirty="0"/>
              <a:t>Push images to Azure Container Registry (ACR)</a:t>
            </a:r>
            <a:endParaRPr lang="en-US" dirty="0"/>
          </a:p>
          <a:p>
            <a:r>
              <a:rPr dirty="0"/>
              <a:t>Deploy the same app to Azure Kubernetes Service (AKS)</a:t>
            </a:r>
          </a:p>
          <a:p>
            <a:r>
              <a:rPr dirty="0"/>
              <a:t>Objects: Deployments, </a:t>
            </a:r>
            <a:r>
              <a:rPr dirty="0" err="1"/>
              <a:t>StatefulSet</a:t>
            </a:r>
            <a:r>
              <a:rPr dirty="0"/>
              <a:t>, Services, </a:t>
            </a:r>
            <a:r>
              <a:rPr dirty="0" err="1"/>
              <a:t>PersistentVolumeClaims</a:t>
            </a:r>
            <a:endParaRPr dirty="0"/>
          </a:p>
          <a:p>
            <a:r>
              <a:rPr dirty="0"/>
              <a:t>Public access via a </a:t>
            </a:r>
            <a:r>
              <a:rPr dirty="0" err="1"/>
              <a:t>LoadBalancer</a:t>
            </a:r>
            <a:r>
              <a:rPr dirty="0"/>
              <a:t> + persistent cloud storage</a:t>
            </a:r>
            <a:endParaRPr lang="en-US" dirty="0"/>
          </a:p>
          <a:p>
            <a:r>
              <a:rPr lang="en-US" dirty="0"/>
              <a:t>Demonstrate horizontal scaling using KEDA and HPA</a:t>
            </a:r>
            <a:endParaRPr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The System at a Glance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3291840"/>
            <a:ext cx="1828800" cy="1051560"/>
          </a:xfrm>
          <a:prstGeom prst="roundRect">
            <a:avLst/>
          </a:prstGeom>
          <a:solidFill>
            <a:srgbClr val="0D1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randview Display"/>
              </a:rPr>
              <a:t>Browser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Grandview Display"/>
              </a:rPr>
              <a:t>(user)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2" y="3291840"/>
            <a:ext cx="1828800" cy="1051560"/>
          </a:xfrm>
          <a:prstGeom prst="round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Grandview Display"/>
              </a:rPr>
              <a:t>LoadBalancer</a:t>
            </a:r>
            <a:endParaRPr sz="1200" b="1" dirty="0">
              <a:solidFill>
                <a:srgbClr val="FFFFFF"/>
              </a:solidFill>
              <a:latin typeface="Grandview Display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Grandview Display"/>
              </a:rPr>
              <a:t>api</a:t>
            </a:r>
            <a:r>
              <a:rPr sz="900" b="0" dirty="0">
                <a:solidFill>
                  <a:srgbClr val="FFFFFF"/>
                </a:solidFill>
                <a:latin typeface="Grandview Display"/>
              </a:rPr>
              <a:t>-service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75504" y="3291840"/>
            <a:ext cx="1828800" cy="1051560"/>
          </a:xfrm>
          <a:prstGeom prst="round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Grandview Display"/>
              </a:rPr>
              <a:t>API pods</a:t>
            </a: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Grandview Display"/>
              </a:rPr>
              <a:t>api</a:t>
            </a:r>
            <a:r>
              <a:rPr sz="900" b="0" dirty="0">
                <a:solidFill>
                  <a:srgbClr val="FFFFFF"/>
                </a:solidFill>
                <a:latin typeface="Grandview Display"/>
              </a:rPr>
              <a:t>-deployment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43216" y="3291840"/>
            <a:ext cx="1828800" cy="1051560"/>
          </a:xfrm>
          <a:prstGeom prst="roundRect">
            <a:avLst/>
          </a:prstGeom>
          <a:solidFill>
            <a:srgbClr val="1AC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Grandview Display"/>
              </a:rPr>
              <a:t>MongoDB</a:t>
            </a:r>
          </a:p>
          <a:p>
            <a:pPr algn="ctr"/>
            <a:r>
              <a:rPr sz="900" b="0" dirty="0">
                <a:solidFill>
                  <a:srgbClr val="FFFFFF"/>
                </a:solidFill>
                <a:latin typeface="Grandview Display"/>
              </a:rPr>
              <a:t>job queue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0928" y="3291840"/>
            <a:ext cx="1828800" cy="1051560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Grandview Display"/>
              </a:rPr>
              <a:t>Worker pods</a:t>
            </a:r>
          </a:p>
          <a:p>
            <a:pPr algn="ctr"/>
            <a:r>
              <a:rPr sz="900" b="0" dirty="0">
                <a:solidFill>
                  <a:srgbClr val="FFFFFF"/>
                </a:solidFill>
                <a:latin typeface="Grandview Display"/>
              </a:rPr>
              <a:t>worker-deployment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487168" y="3671315"/>
            <a:ext cx="402336" cy="292608"/>
          </a:xfrm>
          <a:prstGeom prst="rightArrow">
            <a:avLst/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4754879" y="3671315"/>
            <a:ext cx="402336" cy="292608"/>
          </a:xfrm>
          <a:prstGeom prst="rightArrow">
            <a:avLst/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7022592" y="3671315"/>
            <a:ext cx="402336" cy="292608"/>
          </a:xfrm>
          <a:prstGeom prst="rightArrow">
            <a:avLst/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/>
          <p:cNvSpPr/>
          <p:nvPr/>
        </p:nvSpPr>
        <p:spPr>
          <a:xfrm>
            <a:off x="9290304" y="3671315"/>
            <a:ext cx="402335" cy="292608"/>
          </a:xfrm>
          <a:prstGeom prst="leftArrow">
            <a:avLst/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175504" y="4663440"/>
            <a:ext cx="1828800" cy="548640"/>
          </a:xfrm>
          <a:prstGeom prst="roundRect">
            <a:avLst/>
          </a:prstGeom>
          <a:solidFill>
            <a:srgbClr val="0D1C3B"/>
          </a:solidFill>
          <a:ln w="15875">
            <a:solidFill>
              <a:srgbClr val="197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Grandview Display"/>
              </a:rPr>
              <a:t>HPA</a:t>
            </a:r>
          </a:p>
          <a:p>
            <a:pPr algn="ctr"/>
            <a:r>
              <a:rPr sz="700" b="0" dirty="0">
                <a:solidFill>
                  <a:srgbClr val="FFFFFF"/>
                </a:solidFill>
                <a:latin typeface="Grandview Display"/>
              </a:rPr>
              <a:t>scales on CPU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0928" y="4663440"/>
            <a:ext cx="1828800" cy="548640"/>
          </a:xfrm>
          <a:prstGeom prst="roundRect">
            <a:avLst/>
          </a:prstGeom>
          <a:solidFill>
            <a:srgbClr val="0D1C3B"/>
          </a:solidFill>
          <a:ln w="15875">
            <a:solidFill>
              <a:srgbClr val="25C8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Grandview Display"/>
              </a:rPr>
              <a:t>KEDA</a:t>
            </a:r>
          </a:p>
          <a:p>
            <a:pPr algn="ctr"/>
            <a:r>
              <a:rPr sz="700" b="0" dirty="0">
                <a:solidFill>
                  <a:srgbClr val="FFFFFF"/>
                </a:solidFill>
                <a:latin typeface="Grandview Display"/>
              </a:rPr>
              <a:t>scales on queue depth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8A93A6"/>
                </a:solidFill>
                <a:latin typeface="Grandview Display"/>
              </a:rPr>
              <a:t>Flow: the browser hits the API through a public load balancer; the API queues jobs in MongoDB; workers pull jobs from the queue and write results 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The Labs Running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262970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C3B"/>
                </a:solidFill>
                <a:latin typeface="Grandview Display"/>
              </a:rPr>
              <a:t>Phase 2 — web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72125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D1C3B"/>
                </a:solidFill>
                <a:latin typeface="Grandview Display"/>
              </a:rPr>
              <a:t>Phase 2 — containers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2960" y="281258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D1C3B"/>
                </a:solidFill>
                <a:latin typeface="Grandview Display"/>
              </a:rPr>
              <a:t>Phase 3 — autoscaling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82FED9-FA36-196A-3D7D-8941FCEE0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0" y="2978503"/>
            <a:ext cx="3307843" cy="28879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1177B3-1B6E-7CC8-85E1-EF0C983C5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409" y="3268980"/>
            <a:ext cx="4407407" cy="2438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A3DC00-17FD-5996-0AEE-3913440EA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000" y="3295556"/>
            <a:ext cx="4957806" cy="22309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dirty="0"/>
              <a:t>Key Concept — Match the Scaling Signal to the Workload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dirty="0"/>
              <a:t>The API is CPU-bound under request load</a:t>
            </a:r>
            <a:endParaRPr lang="en-US" dirty="0"/>
          </a:p>
          <a:p>
            <a:pPr lvl="1"/>
            <a:r>
              <a:rPr dirty="0"/>
              <a:t>→ CPU-based Horizontal Pod </a:t>
            </a:r>
            <a:r>
              <a:rPr dirty="0" err="1"/>
              <a:t>Autoscaler</a:t>
            </a:r>
            <a:r>
              <a:rPr dirty="0"/>
              <a:t> (HPA)</a:t>
            </a:r>
          </a:p>
          <a:p>
            <a:r>
              <a:rPr dirty="0"/>
              <a:t>The worker mostly waits on external calls (very low CPU)</a:t>
            </a:r>
          </a:p>
          <a:p>
            <a:pPr lvl="1"/>
            <a:r>
              <a:rPr dirty="0"/>
              <a:t>→ Scale on job-queue depth with KEDA, not CPU</a:t>
            </a:r>
          </a:p>
          <a:p>
            <a:r>
              <a:rPr dirty="0"/>
              <a:t>Watch pods scale up under load, then back down when idl</a:t>
            </a:r>
            <a:r>
              <a:rPr lang="en-US" dirty="0"/>
              <a:t>e</a:t>
            </a:r>
            <a:endParaRPr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Autoscaling in Action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73EB"/>
                </a:solidFill>
                <a:latin typeface="Grandview Display"/>
              </a:rPr>
              <a:t>API pods</a:t>
            </a:r>
          </a:p>
          <a:p>
            <a:pPr algn="l"/>
            <a:r>
              <a:rPr sz="1300" b="1" i="0">
                <a:solidFill>
                  <a:srgbClr val="1973EB"/>
                </a:solidFill>
                <a:latin typeface="Grandview Display"/>
              </a:rPr>
              <a:t>(CPU-based HPA)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2926080"/>
            <a:ext cx="457200" cy="457200"/>
          </a:xfrm>
          <a:prstGeom prst="round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randview Display"/>
              </a:rPr>
              <a:t>1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434840" y="3017520"/>
            <a:ext cx="822960" cy="274320"/>
          </a:xfrm>
          <a:prstGeom prst="rightArrow">
            <a:avLst/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0" y="2926080"/>
            <a:ext cx="411480" cy="411480"/>
          </a:xfrm>
          <a:prstGeom prst="round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007608" y="2926080"/>
            <a:ext cx="411480" cy="411480"/>
          </a:xfrm>
          <a:prstGeom prst="round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28816" y="2926080"/>
            <a:ext cx="411480" cy="411480"/>
          </a:xfrm>
          <a:prstGeom prst="round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050024" y="2926080"/>
            <a:ext cx="411480" cy="411480"/>
          </a:xfrm>
          <a:prstGeom prst="round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571232" y="2926080"/>
            <a:ext cx="411480" cy="411480"/>
          </a:xfrm>
          <a:prstGeom prst="round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Grandview Display"/>
              </a:rPr>
              <a:t>up to 5 pods under request 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C8A2"/>
                </a:solidFill>
                <a:latin typeface="Grandview Display"/>
              </a:rPr>
              <a:t>Worker pods</a:t>
            </a:r>
          </a:p>
          <a:p>
            <a:pPr algn="l"/>
            <a:r>
              <a:rPr sz="1300" b="1" i="0">
                <a:solidFill>
                  <a:srgbClr val="25C8A2"/>
                </a:solidFill>
                <a:latin typeface="Grandview Display"/>
              </a:rPr>
              <a:t>(KEDA queue-based)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49039" y="4526280"/>
            <a:ext cx="457200" cy="457200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Grandview Display"/>
              </a:rPr>
              <a:t>1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34840" y="4617720"/>
            <a:ext cx="822960" cy="274320"/>
          </a:xfrm>
          <a:prstGeom prst="rightArrow">
            <a:avLst/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486400" y="4526280"/>
            <a:ext cx="384048" cy="384048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961888" y="4526280"/>
            <a:ext cx="384048" cy="384048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37376" y="4526280"/>
            <a:ext cx="384048" cy="384048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912864" y="4526280"/>
            <a:ext cx="384048" cy="384048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388352" y="4526280"/>
            <a:ext cx="384048" cy="384048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863840" y="4526280"/>
            <a:ext cx="384048" cy="384048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339328" y="4526280"/>
            <a:ext cx="384048" cy="384048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814816" y="4526280"/>
            <a:ext cx="384048" cy="384048"/>
          </a:xfrm>
          <a:prstGeom prst="roundRect">
            <a:avLst/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0" y="5029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Grandview Display"/>
              </a:rPr>
              <a:t>up to 8 workers as the job backlog grows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C3B"/>
                </a:solidFill>
                <a:latin typeface="Grandview Display"/>
              </a:rPr>
              <a:t>Load rises → pods are created (Pending → ContainerCreating → Running); load stops → pods scale back down.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dirty="0"/>
              <a:t>Curriculum delivers strong fundamentals: Git, Agile, OOP, APIs, software engineering</a:t>
            </a:r>
            <a:endParaRPr lang="en-US" dirty="0"/>
          </a:p>
          <a:p>
            <a:r>
              <a:rPr dirty="0"/>
              <a:t>Clear gap: containerization, scalability, and Kubernetes</a:t>
            </a:r>
          </a:p>
          <a:p>
            <a:r>
              <a:rPr dirty="0"/>
              <a:t>Deliverable: a ready-to-use, industry-relevant teaching lab</a:t>
            </a:r>
          </a:p>
          <a:p>
            <a:r>
              <a:rPr dirty="0"/>
              <a:t>Future work:</a:t>
            </a:r>
          </a:p>
          <a:p>
            <a:pPr lvl="1"/>
            <a:r>
              <a:rPr dirty="0"/>
              <a:t>Pilot the lab in a course and gather feedback</a:t>
            </a:r>
          </a:p>
          <a:p>
            <a:pPr lvl="1"/>
            <a:r>
              <a:rPr dirty="0"/>
              <a:t>Add a CI/CD phase, automated grading, and observability</a:t>
            </a:r>
          </a:p>
          <a:p>
            <a:pPr lvl="1"/>
            <a:r>
              <a:rPr dirty="0"/>
              <a:t>Survey more interns to find other curriculum gaps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526F-8666-CA0B-CA3C-51FD394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CFE9-C9EB-CA56-16CD-670394EB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t>Questions?</a:t>
            </a:r>
            <a:endParaRPr lang="en-US"/>
          </a:p>
          <a:p>
            <a:r>
              <a:t>Ethan Bogart — Independent Study, Texas State University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264</TotalTime>
  <Words>749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Grandview Display</vt:lpstr>
      <vt:lpstr>DashVTI</vt:lpstr>
      <vt:lpstr>Bridging Curriculum and Industry</vt:lpstr>
      <vt:lpstr>Motivation &amp; Purpose</vt:lpstr>
      <vt:lpstr>Approach &amp; Methodology</vt:lpstr>
      <vt:lpstr>Curriculum Concepts I Used at Work</vt:lpstr>
      <vt:lpstr>The Gap — What Wasn't Taught</vt:lpstr>
      <vt:lpstr>From Analysis to Action</vt:lpstr>
      <vt:lpstr>The Deliverable — A Three-Phase Lab</vt:lpstr>
      <vt:lpstr>Phase 1 — Docker Fundamentals</vt:lpstr>
      <vt:lpstr>Phase 2 — Multi-Container Application</vt:lpstr>
      <vt:lpstr>Phase 3 — Kubernetes &amp; Scalability on Azure</vt:lpstr>
      <vt:lpstr>The System at a Glance</vt:lpstr>
      <vt:lpstr>The Labs Running</vt:lpstr>
      <vt:lpstr>Key Concept — Match the Scaling Signal to the Workload</vt:lpstr>
      <vt:lpstr>Autoscaling in Action</vt:lpstr>
      <vt:lpstr>Conclusion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Bogart, Ethan</dc:creator>
  <cp:lastModifiedBy>Bogart, Ethan</cp:lastModifiedBy>
  <cp:revision>3</cp:revision>
  <dcterms:created xsi:type="dcterms:W3CDTF">2026-07-14T17:20:51Z</dcterms:created>
  <dcterms:modified xsi:type="dcterms:W3CDTF">2026-07-23T20:21:45Z</dcterms:modified>
</cp:coreProperties>
</file>